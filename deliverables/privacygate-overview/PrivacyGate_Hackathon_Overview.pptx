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fc6c7a0e6413c" /><Relationship Type="http://schemas.openxmlformats.org/officeDocument/2006/relationships/extended-properties" Target="/docProps/app.xml" Id="R4e51bb4263994950" /><Relationship Type="http://schemas.openxmlformats.org/officeDocument/2006/relationships/officeDocument" Target="/ppt/presentation.xml" Id="Ra83256298a2140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63450f405a471e"/>
  </p:sldMasterIdLst>
  <p:notesMasterIdLst>
    <p:notesMasterId xmlns:r="http://schemas.openxmlformats.org/officeDocument/2006/relationships" r:id="Rfa588778b53f49e5"/>
  </p:notesMasterIdLst>
  <p:sldIdLst>
    <p:sldId xmlns:r="http://schemas.openxmlformats.org/officeDocument/2006/relationships" id="256" r:id="R5b36ac6df0084c2f"/>
    <p:sldId xmlns:r="http://schemas.openxmlformats.org/officeDocument/2006/relationships" id="257" r:id="R479750c810e14844"/>
    <p:sldId xmlns:r="http://schemas.openxmlformats.org/officeDocument/2006/relationships" id="258" r:id="R69bd4de7e81e4528"/>
    <p:sldId xmlns:r="http://schemas.openxmlformats.org/officeDocument/2006/relationships" id="259" r:id="R861f092dd6534188"/>
    <p:sldId xmlns:r="http://schemas.openxmlformats.org/officeDocument/2006/relationships" id="260" r:id="R582e07d40e4544a1"/>
    <p:sldId xmlns:r="http://schemas.openxmlformats.org/officeDocument/2006/relationships" id="261" r:id="R1b7760f667454155"/>
    <p:sldId xmlns:r="http://schemas.openxmlformats.org/officeDocument/2006/relationships" id="262" r:id="Ra6c83399444f4a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32e4813724705" /><Relationship Type="http://schemas.openxmlformats.org/officeDocument/2006/relationships/slideMaster" Target="/ppt/slideMasters/slideMaster1.xml" Id="R3263450f405a471e" /><Relationship Type="http://schemas.openxmlformats.org/officeDocument/2006/relationships/notesMaster" Target="/ppt/notesMasters/notesMaster1.xml" Id="Rfa588778b53f49e5" /><Relationship Type="http://schemas.openxmlformats.org/officeDocument/2006/relationships/presProps" Target="/ppt/presProps.xml" Id="R23bbc5342e7b4761" /><Relationship Type="http://schemas.openxmlformats.org/officeDocument/2006/relationships/tableStyles" Target="/ppt/tableStyles.xml" Id="R6f7ba1a1988e4f0c" /><Relationship Type="http://schemas.openxmlformats.org/officeDocument/2006/relationships/slide" Target="/ppt/slides/slide1.xml" Id="R5b36ac6df0084c2f" /><Relationship Type="http://schemas.openxmlformats.org/officeDocument/2006/relationships/slide" Target="/ppt/slides/slide2.xml" Id="R479750c810e14844" /><Relationship Type="http://schemas.openxmlformats.org/officeDocument/2006/relationships/slide" Target="/ppt/slides/slide3.xml" Id="R69bd4de7e81e4528" /><Relationship Type="http://schemas.openxmlformats.org/officeDocument/2006/relationships/slide" Target="/ppt/slides/slide4.xml" Id="R861f092dd6534188" /><Relationship Type="http://schemas.openxmlformats.org/officeDocument/2006/relationships/slide" Target="/ppt/slides/slide5.xml" Id="R582e07d40e4544a1" /><Relationship Type="http://schemas.openxmlformats.org/officeDocument/2006/relationships/slide" Target="/ppt/slides/slide6.xml" Id="R1b7760f667454155" /><Relationship Type="http://schemas.openxmlformats.org/officeDocument/2006/relationships/slide" Target="/ppt/slides/slide7.xml" Id="Ra6c83399444f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2c84b4a5f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933c633df4ee8" /><Relationship Type="http://schemas.openxmlformats.org/officeDocument/2006/relationships/notesMaster" Target="/ppt/notesMasters/notesMaster1.xml" Id="R34b922c041ba48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efdc7a86f24228" /><Relationship Type="http://schemas.openxmlformats.org/officeDocument/2006/relationships/notesMaster" Target="/ppt/notesMasters/notesMaster1.xml" Id="Rc8ddc0bc205d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7bc399d2614672" /><Relationship Type="http://schemas.openxmlformats.org/officeDocument/2006/relationships/notesMaster" Target="/ppt/notesMasters/notesMaster1.xml" Id="R028d1b879f4c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7755dedf7400a" /><Relationship Type="http://schemas.openxmlformats.org/officeDocument/2006/relationships/notesMaster" Target="/ppt/notesMasters/notesMaster1.xml" Id="R72c94383143b41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485c12c09b4051" /><Relationship Type="http://schemas.openxmlformats.org/officeDocument/2006/relationships/notesMaster" Target="/ppt/notesMasters/notesMaster1.xml" Id="Rf9d639d4c71941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974a3597254769" /><Relationship Type="http://schemas.openxmlformats.org/officeDocument/2006/relationships/notesMaster" Target="/ppt/notesMasters/notesMaster1.xml" Id="Re9275acdd710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c245500e9436c" /><Relationship Type="http://schemas.openxmlformats.org/officeDocument/2006/relationships/notesMaster" Target="/ppt/notesMasters/notesMaster1.xml" Id="R9d5a5589aefd40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PrivacyGate project overview. Visual generated for this presentation. Product facts come from the PrivacyGate repository and supplied project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examples contain placeholder fields and no real personal data. Visual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image captured from the current PrivacyGate prototype. It contains settings only and no personal gallery media.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current ML Kit based first layer. The slide intentionally omits low-level class and process details. Visual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derived from the current PrivacyGate settings and ML Kit pipeline. Vehicle number plate localization and specialized sensitive-media classification remain planned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roadmap distinguishes current prototype behavior from planned work. No performance, accuracy or adoption metrics are claimed without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items on this slide are future scope, not claims about current implementation. The app and service names describe possible integration surfaces.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3843241c34a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c0949ae1a4560" /><Relationship Type="http://schemas.openxmlformats.org/officeDocument/2006/relationships/slideLayout" Target="/ppt/slideLayouts/slideLayout1.xml" Id="R3985d68952fe41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5d68952fe41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9f2078d6493b" /><Relationship Type="http://schemas.openxmlformats.org/officeDocument/2006/relationships/image" Target="/ppt/media/image.png" Id="R0da737c53c364f8d" /><Relationship Type="http://schemas.openxmlformats.org/officeDocument/2006/relationships/notesSlide" Target="/ppt/notesSlides/notesSlide1.xml" Id="R3e1f8736b17d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70bd743414654" /><Relationship Type="http://schemas.openxmlformats.org/officeDocument/2006/relationships/image" Target="/ppt/media/image2.png" Id="R73775a90ad434342" /><Relationship Type="http://schemas.openxmlformats.org/officeDocument/2006/relationships/notesSlide" Target="/ppt/notesSlides/notesSlide2.xml" Id="Rfb1c2907c11a4d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5bece426b49fb" /><Relationship Type="http://schemas.openxmlformats.org/officeDocument/2006/relationships/image" Target="/ppt/media/image3.png" Id="R961cf3c6f6754c62" /><Relationship Type="http://schemas.openxmlformats.org/officeDocument/2006/relationships/notesSlide" Target="/ppt/notesSlides/notesSlide3.xml" Id="Rf3c99d500264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a1b0eaa6446b3" /><Relationship Type="http://schemas.openxmlformats.org/officeDocument/2006/relationships/image" Target="/ppt/media/image4.png" Id="R997bcf222f334bef" /><Relationship Type="http://schemas.openxmlformats.org/officeDocument/2006/relationships/notesSlide" Target="/ppt/notesSlides/notesSlide4.xml" Id="Rdd212280c0684c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54f1d1a8843da" /><Relationship Type="http://schemas.openxmlformats.org/officeDocument/2006/relationships/notesSlide" Target="/ppt/notesSlides/notesSlide5.xml" Id="R18cc7eb0f94b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7e6d3cc1f4b8b" /><Relationship Type="http://schemas.openxmlformats.org/officeDocument/2006/relationships/notesSlide" Target="/ppt/notesSlides/notesSlide6.xml" Id="Rc3e0d7b796b04f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2711ff8bd4cec" /><Relationship Type="http://schemas.openxmlformats.org/officeDocument/2006/relationships/notesSlide" Target="/ppt/notesSlides/notesSlide7.xml" Id="R90b95a4c2ec84c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737c53c364f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A9313-03AC-4168-8262-51B7D844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50ABB-96EA-426A-B87E-2BC12F9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FA359-8947-4579-A839-E58BB96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62050"/>
            <a:ext cx="4143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PRIVACYGATE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6CF52-4FA7-4113-B89B-8BF28C49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390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On device privacy protection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for safer image sharing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A02C3-2843-4F29-B01A-7A63246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Hackathon project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5001E-4123-4D8D-BF40-46E1985D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1BF27-515C-477B-9B8A-EC3D9DA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F8E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E85"/>
                </a:solidFill>
                <a:latin typeface="Arial"/>
                <a:ea typeface="Arial"/>
                <a:cs typeface="Arial"/>
              </a:rPr>
              <a:t>Native Android prototype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F8E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F8E85"/>
                </a:solidFill>
                <a:latin typeface="Arial"/>
                <a:ea typeface="Arial"/>
                <a:cs typeface="Arial"/>
              </a:rPr>
              <a:t>iQOO 15 with Snapdragon 8 Elite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FE135-4C85-4054-BAD0-D17F984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100% local analysis</a:t>
            </a:r>
          </a:p>
        </p:txBody>
      </p:sp>
    </p:spTree>
    <p:extLst>
      <p:ext uri="{BB962C8B-B14F-4D97-AF65-F5344CB8AC3E}">
        <p14:creationId xmlns:p14="http://schemas.microsoft.com/office/powerpoint/2010/main" val="472869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C3F0D-7650-4F44-AEBA-7FF5FC6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0D6E7-2184-4919-9B1A-6CEAEDE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Sensitive details travel with necessary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ECFBD-9D07-4770-97F0-966BFE69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524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People must share IDs, payment evidence, invoices and prescriptions. The recipient needs the document, while many visible fields remain unnecessary.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211A1-C7ED-4FDD-A823-79EEF399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Late 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FEC7C-2FBD-4CD0-BFB4-5EB521B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Users often notice exposed details only after a message has been sent or forwarded.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FF68E-C2BA-4015-B786-3A33000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Warnings without a next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5318B-6029-4327-9C53-B3DAA610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A generic stop message creates friction when the user still has to complete the share.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E169D-5A07-4BAA-B293-36D416B8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0A1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A15B"/>
                </a:solidFill>
                <a:latin typeface="Arial"/>
                <a:ea typeface="Arial"/>
                <a:cs typeface="Arial"/>
              </a:rPr>
              <a:t>Cloud analysis adds another exposure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02819-3D9C-4A51-BA39-E88C5A5C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Sending the same sensitive image to a server for inspection creates an avoidable second exposure point.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75a90ad434342"/>
          <a:srcRect xmlns:a="http://schemas.openxmlformats.org/drawingml/2006/main" l="12440" t="0" r="12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485900"/>
            <a:ext cx="6000750" cy="44958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1409159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8EE8F-085E-4719-ABB8-43053005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EF08D-23F6-44A1-A204-C00BD2B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A useful checkpoint before the image leaves the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7E7C4-B51F-4077-A241-FE0A82D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3C26F-B2D6-41E1-B4D5-5CE4E26F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430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8199E-D3DE-4F2E-BB6F-E61D287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669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Recognize the outgoing preview or direct share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52865-2542-4263-B30A-F41659AC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31A1D-A339-4845-989F-5118D557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83794-BE08-406B-85E4-C2DCED8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Inspect locally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0257D-8725-4645-B517-A997C322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Read visual and text signals on the device.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8B86C-A6FD-40EE-B62F-B11250CC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40AFC-10E0-4C28-A645-17478947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6ECCB-BAC6-4EDC-81B0-37C6ED7D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Explain the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FF6DC-F662-4E2C-A5A8-644619C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Show the category and affected region.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4AF7C-5912-4F5E-B56B-D3BD2C86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EEB82-66D7-452F-B18C-3D32D6A4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0920C-671D-4ED3-A95B-8CD6C485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Mask or continue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B76A5-FE03-4D8E-990B-6931D364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Create a protected copy or honor a deliberate second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FE412-0FF5-4FE7-83AF-38415343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833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The first tap creates awareness. The user remains in control of the final share.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cf3c6f6754c62"/>
          <a:srcRect xmlns:a="http://schemas.openxmlformats.org/drawingml/2006/main" l="0" t="12469" r="0" b="1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409700"/>
            <a:ext cx="3114675" cy="5143500"/>
          </a:xfrm>
          <a:prstGeom xmlns:a="http://schemas.openxmlformats.org/drawingml/2006/main" prst="roundRect">
            <a:avLst>
              <a:gd name="adj" fmla="val 4893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1DE01-1766-4031-BC2C-4325F02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95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51C32-F09A-4E25-B05E-A1D2FB01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42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Sensitivity and category controls make the warning policy personal.</a:t>
            </a:r>
          </a:p>
        </p:txBody>
      </p:sp>
    </p:spTree>
    <p:extLst>
      <p:ext uri="{BB962C8B-B14F-4D97-AF65-F5344CB8AC3E}">
        <p14:creationId xmlns:p14="http://schemas.microsoft.com/office/powerpoint/2010/main" val="1165510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C2F1D-AB0E-473D-89E9-98136B8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2ABEE-A1BA-41A6-910A-967DB7B6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High level on device architecture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bcf222f334bef"/>
          <a:srcRect xmlns:a="http://schemas.openxmlformats.org/drawingml/2006/main" l="17436" t="0" r="174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09700"/>
            <a:ext cx="5048250" cy="4362450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438BB-9428-4DC4-8CC8-F52856B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D18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1043E-E612-42B3-928C-82629105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27B07-4C65-4D26-BB81-C0E9E03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Image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CE2B5-07D4-4D1D-ABE2-706146E8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MediaStore, accessibility screenshot or Android share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B0949-CAA4-4A9C-9ECB-6FA7329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D18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4CA77-E81B-444C-958F-27D8114F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DD705-99DD-4990-9C63-B0D1389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8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Local perception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AEF72-8F7F-4032-8C34-98E0C73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ML Kit image labels, face detection, segmentation and OCR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07E12-07B3-49C2-B312-944E0DD8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2B22"/>
          </a:solidFill>
          <a:ln xmlns:a="http://schemas.openxmlformats.org/drawingml/2006/main" w="9525">
            <a:solidFill>
              <a:srgbClr val="CFFF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7D1FB-E9BE-4694-911A-A381408F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915C6-5D4E-4AF1-9283-66E7813A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52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Privacy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E9B2E-3B34-4EA0-9EF0-0AEB0594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57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User policy, semantic rules and checksum validators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D4EDD-6446-43EE-AB05-AB53F325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D18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A5EA4-5C50-4423-B7F3-BB1E7A67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99A91-9971-4DFE-A874-71EADF6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19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Protected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0E01E-0013-4FE1-B49D-391FF3B9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24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Redacted bitmap through FileProvider and the native sharesheet</a:t>
            </a:r>
          </a:p>
        </p:txBody>
      </p:sp>
      <p:cxnSp>
        <p:nvCxnSpPr>
          <p:cNvPr id="43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133725" y="23717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FF58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33725" y="34385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FF58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133725" y="45053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FF58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27031-F926-4871-B0E6-C3809573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53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The Android manifest removes internet access. Analysis, policy and masking stay within the device boundary.</a:t>
            </a:r>
          </a:p>
        </p:txBody>
      </p:sp>
    </p:spTree>
    <p:extLst>
      <p:ext uri="{BB962C8B-B14F-4D97-AF65-F5344CB8AC3E}">
        <p14:creationId xmlns:p14="http://schemas.microsoft.com/office/powerpoint/2010/main" val="1485416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1A07E-3666-4076-AD63-AAE235C9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DDFE5-5D4A-4C4C-9D66-D5C1074A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Detection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DC8CE-DE83-4ACA-A33E-67EB57C1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Current privacy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FE0A7-0BF4-451D-962B-E60D871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333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Identity and ID cards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Banking and payment cards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Passwords, PINs and OTPs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Medical and prescription records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Bills, receipts and invoices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Phone numbers and email addresses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Faces and people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4208D-5167-4346-BC7F-460E966A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Gallery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75DF-DABF-4B7C-ACD3-52F37D1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24765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People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Documents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Vehicles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Food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Nature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28577-DE29-47D3-92B6-850DCCD1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How the first layer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94B83-623B-446C-B55F-B0DEEA6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Image labeling identifies broad scenes and objects. Face models detect people. OCR and local validators identify sensitive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BCF25-A433-4C29-A41C-DF2DD65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E503A-58C5-43D7-BE5A-1D7F149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0A1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A15B"/>
                </a:solidFill>
                <a:latin typeface="Arial"/>
                <a:ea typeface="Arial"/>
                <a:cs typeface="Arial"/>
              </a:rPr>
              <a:t>Next detector milestone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FFF4C-A697-4136-9991-A084934D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Reliable vehicle number plate localization and precise masking, followed by a specialized sensitive-media classifier.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EF491-5933-4AE9-A4EC-AB9C708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7429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2219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3C0D-26A6-48FF-A782-52A0CC2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810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Each warning category has an independent toggle, so users can match protection to their sharing habits.</a:t>
            </a:r>
          </a:p>
        </p:txBody>
      </p:sp>
    </p:spTree>
    <p:extLst>
      <p:ext uri="{BB962C8B-B14F-4D97-AF65-F5344CB8AC3E}">
        <p14:creationId xmlns:p14="http://schemas.microsoft.com/office/powerpoint/2010/main" val="1389322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F4AE3-25D5-47C8-A318-A6DECF0D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A4294-96F8-4D23-8E92-5C0785C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Product value and delivery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EB549-E475-4E06-8585-A18D598A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Where it helps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1B74D-19A8-42B6-976B-36C770C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Hotel check in and KYC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22CAA-71F6-4D22-A6FF-A700B02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Hide fields the recipient does not need.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557B4-3864-4C4B-87A8-E674A59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Payment disputes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2C04F-9CA6-40CB-8087-E0B7FB0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Protect card and account details while preserving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F986F-B368-460F-8462-214D7C67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Medical coordination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A6D21-FFEC-4269-BCBA-B453D0CA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Keep prescription context while hiding patient contact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BB821-82E6-4997-A8B1-CE2D9D89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WhatsApp 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287C0-BC80-4351-878F-74CF7C49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Reduce exposure in invoices, receipts and screenshots.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0DA34-890E-4F4E-B8DA-167C54E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Execution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D85CA-3C83-45E9-B13D-633DBB9C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2CF2B-23B5-4D6C-BD31-64C1F4D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14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Prove the core interaction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FC64E-274A-49F5-9208-59D5EBC7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First send warning, clear reason, full-region masking and an airplane-mode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36883-B00E-4AD9-BDB3-AA23CF1A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DF183-319A-4CCA-A99C-2C3764F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6707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0A1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A15B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68548-FE0F-45D5-8C6C-E45163EB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289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Improve masking 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AD9BB-E53F-492E-893C-6E2F5D8B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99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Partial masks for Aadhaar and cards, a cleaner Privacy Island and plate localization.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633F2-537F-4689-BB91-A4B8415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76725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3A236-F1C8-4E5B-A4ED-8F42C49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8152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0A1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A15B"/>
                </a:solidFill>
                <a:latin typeface="Arial"/>
                <a:ea typeface="Arial"/>
                <a:cs typeface="Arial"/>
              </a:rPr>
              <a:t>HARDEN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153EC-5F17-47C9-8B34-F77A37D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434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Prepare for daily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2D33B-BF37-4970-8E40-78671F5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244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Background indexing controls, batch safe share, thermal safeguards and long-run tests.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6C43E-745C-4B0F-89F8-2C28C353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67400"/>
            <a:ext cx="5638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D2A21"/>
          </a:solidFill>
          <a:ln xmlns:a="http://schemas.openxmlformats.org/drawingml/2006/main" w="9525">
            <a:solidFill>
              <a:srgbClr val="CFFF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06938-904E-4FC8-8AB1-F03A804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817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4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Recommendation: continue. The problem is easy to demonstrate, and local processing gives the prototype a clear reason to exist.</a:t>
            </a:r>
          </a:p>
        </p:txBody>
      </p:sp>
    </p:spTree>
    <p:extLst>
      <p:ext uri="{BB962C8B-B14F-4D97-AF65-F5344CB8AC3E}">
        <p14:creationId xmlns:p14="http://schemas.microsoft.com/office/powerpoint/2010/main" val="1842066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BBFB15-0B69-4954-A88B-E0834371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E892B-FFDC-4ACD-984C-31793419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Future scope: a privacy layer for every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0F2D8-318B-449A-A634-645C660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The current prototype protects still-image sharing. Its local detection, policy and masking pattern can expand across personal communication and work apps.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3348-4644-41B4-A7B3-4B1B886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3337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51D18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B356-D5DD-4C6A-965F-6BC43922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B5664-C0B6-420B-A841-EBE9503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7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CONTENT 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1C91D-7FB6-4758-9183-BDEA8B3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Protect more 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6E2E0-071E-44C3-BFE9-22B1A34E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17CFB-991D-4FAF-9F51-1831324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E3935-B0FE-43D3-87BC-A8E2FA9C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337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Photos and scanned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75ED8-9135-4806-B580-469A1616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3323B-F271-4DF4-AABD-89E8841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052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PDFs and attachments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718DC-06DD-4E8C-A563-7361B289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1FD6B-627D-4392-90C7-B4DBFB7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76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Messages and screenshots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8E2E9-7C26-46CB-A3E3-7136E0E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519E7-25F5-4B4A-BE94-C55D78F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481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Video and screen recordings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65353-062F-47A8-A642-FC358F6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5A313-D3E3-42E4-901E-D835795D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96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Voice notes and transcripts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4FE39-3507-47D0-B1C0-DB24E1CC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33337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51D18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352AF-75D7-45D1-B1BF-D5378808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38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A13EC-5436-4F1B-AFCD-6D1B9CBA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57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APP ECOSYSTEM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44F72-8A28-4EE3-9C04-BE2D9EE1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Work across channels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83D5B-1685-4CCE-B5EC-2E7D0C41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0515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3C063-2FFE-4C7C-BE91-B40D186F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FFD4C-1CCB-4006-ACCE-71B4A221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337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WhatsApp and WhatsApp Business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46FF4-0BBD-4D86-B728-8595D2E6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F1AE4B-7783-444C-BF9C-9FC452E2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052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Instagram, Messenger and Facebook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D73D46-ABEF-45E9-B521-9EB6AD5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1BCCE-F761-45F7-8AA0-E9387545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76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Telegram and 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B9819-FD1A-4568-93B3-34A8A27C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BE87D-105F-49F5-80A5-0D1DB65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481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Gmail and Outlook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0A7C3-4B42-4904-A471-62BDAB84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8703CC-BFE8-4676-80F2-6D8DCB58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Teams, Slack, Drive and Files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B83F2-916B-4BA0-BFD9-86028CD0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33337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151D18"/>
          </a:solidFill>
          <a:ln xmlns:a="http://schemas.openxmlformats.org/drawingml/2006/main" w="9525">
            <a:solidFill>
              <a:srgbClr val="2A3A3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E680C-FC19-42DA-9CAF-430362DB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08DB9F-CB34-44FE-B8B3-B67F3F4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9D9C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D9C1"/>
                </a:solidFill>
                <a:latin typeface="Arial"/>
                <a:ea typeface="Arial"/>
                <a:cs typeface="Arial"/>
              </a:rPr>
              <a:t>PRODUCT POTENTIAL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12363B-E3A0-4627-AC78-CD95FBAA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Grow the platform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C62612-2FB3-4351-9D98-8D10DCE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31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59E73F-6D80-47D6-8A40-B807115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1A510F-0D75-4CC0-88A1-87CA36B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Real-time face and plate masking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9913A0-CCC0-49EE-91F5-3C72952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AD0B25-F84D-4CF1-917E-CC5E604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052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Multilingual and Indic-language OCR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7A81A1-8A7E-482F-8BFA-EF18E0CD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701857-A23F-40A8-B4F1-7C1A1D2B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76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Personal, family and business policies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96B401-1D2F-4C22-ABDD-56B3F844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2BA9B0-371B-457C-8801-C20A9039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481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Privacy SDK for other Android apps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3B7B61-3E79-480A-B078-BAA9E682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F5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31A28E-70C2-44CC-A8F4-C78BE35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96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95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5C0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C0BA"/>
                </a:solidFill>
                <a:latin typeface="Arial"/>
                <a:ea typeface="Arial"/>
                <a:cs typeface="Arial"/>
              </a:rPr>
              <a:t>Enterprise audit and safe-share controls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852AFE-5714-43F4-AE8B-335B9B3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D2A21"/>
          </a:solidFill>
          <a:ln xmlns:a="http://schemas.openxmlformats.org/drawingml/2006/main" w="9525">
            <a:solidFill>
              <a:srgbClr val="CFFF5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DFF4F2-71FE-4F4F-B639-B42B331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FFF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FFF58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5B10F7-ECA2-47B4-BCDE-35ECE49D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Still images + supported Android share flows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BB91B5-43E1-4398-81AF-292DB3F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0A1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A15B"/>
                </a:solidFill>
                <a:latin typeface="Arial"/>
                <a:ea typeface="Arial"/>
                <a:cs typeface="Arial"/>
              </a:rPr>
              <a:t>POTENTIAL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E896F1-1954-4A71-AD75-8199CC7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A device-wide, zero-cloud privacy companion</a:t>
            </a:r>
          </a:p>
        </p:txBody>
      </p:sp>
    </p:spTree>
    <p:extLst>
      <p:ext uri="{BB962C8B-B14F-4D97-AF65-F5344CB8AC3E}">
        <p14:creationId xmlns:p14="http://schemas.microsoft.com/office/powerpoint/2010/main" val="138777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2026-09-06T08:31:17.2960000Z</dcterms:created>
  <dcterms:modified xsi:type="dcterms:W3CDTF">2026-09-06T08:31:17.2960000Z</dcterms:modified>
</coreProperties>
</file>